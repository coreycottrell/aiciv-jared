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200" b="1">
                <a:solidFill>
                  <a:srgbClr val="FFFFFF"/>
                </a:solidFill>
                <a:latin typeface="Calibri"/>
              </a:defRPr>
            </a:pPr>
            <a:r>
              <a:t>PATRIOT NICKEL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0">
                <a:solidFill>
                  <a:srgbClr val="C8963E"/>
                </a:solidFill>
                <a:latin typeface="Calibri"/>
              </a:defRPr>
            </a:pPr>
            <a:r>
              <a:t>Forging America's Nickel Independence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Investor Presentation  |  Q4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4572000" cy="1097280"/>
          </a:xfrm>
          <a:prstGeom prst="rect">
            <a:avLst/>
          </a:prstGeom>
          <a:solidFill>
            <a:srgbClr val="10253E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66344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C8963E"/>
                </a:solidFill>
                <a:latin typeface="Calibri"/>
              </a:defRPr>
            </a:pPr>
            <a:r>
              <a:t>Technology 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2920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CVMR® Corporation  |  Vapour Metallurgy  |  40+ Years Global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info@patriotnickel.com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"/>
            <a:ext cx="7315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        About        Projects        Technology       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"/>
            <a:ext cx="4572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Securing America's Supply Chains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4572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Global Nickel Market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22860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Nickel's rapidly increasing demand reflects its essential</a:t>
            </a:r>
          </a:p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role in the global energy transition.</a:t>
            </a:r>
          </a:p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70% of nickel production is used in manufacturing</a:t>
            </a:r>
          </a:p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stainless steel. Growth sectors: EV Batteries,</a:t>
            </a:r>
          </a:p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Aerospace, Renewable Energy.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14800"/>
            <a:ext cx="2286000" cy="164592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C8963E"/>
                </a:solidFill>
                <a:latin typeface="Calibri"/>
              </a:defRPr>
            </a:pPr>
            <a:r>
              <a:t>US$46B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377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Annual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(up 10% YoY)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4114800"/>
            <a:ext cx="2286000" cy="164592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297680"/>
            <a:ext cx="19202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C8963E"/>
                </a:solidFill>
                <a:latin typeface="Calibri"/>
              </a:defRPr>
            </a:pPr>
            <a:r>
              <a:t>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93776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CAGR Projected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212080"/>
            <a:ext cx="19202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Through 2033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640080"/>
            <a:ext cx="5486400" cy="57607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8229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Global Nickel Production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11887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62% - Indonesia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4447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0.2% - United States*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1956816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*The only producing nickel mine in the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212848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(Eagle Mine, Michigan) closes in 2029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6517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Policy Boost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0175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Biden-Harris 2024 critical mineral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273552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Trump EO 14241 (Mar 2025) fast-tracks via FAST-41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529584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10-25% import tariffs (Aug 2025)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785616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Indonesian dominance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224528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US Gap = Patriot's 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590288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No major US laterites - our Oregon assets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4846320"/>
            <a:ext cx="4754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deliver low-capex, ESG-safe mining to fill the gap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EV Revolution Demands Domestic Nickel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828800"/>
            <a:ext cx="10972800" cy="109728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Explosive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From 55 GWh/year (2021) to ~1,000 GWh/year (2030) - 20x surge</a:t>
            </a:r>
            <a:br/>
            <a:r>
              <a:t>driven by IRA incentives, tariffs, and EV mandates.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63240"/>
            <a:ext cx="10972800" cy="109728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5468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Battery Belt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2044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Southeast US (GA, KY, TN, NC, SC) dominates 60%+ of new capacity;</a:t>
            </a:r>
            <a:br/>
            <a:r>
              <a:t>10+ factories online in 2025 alone.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10972800" cy="109728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Key 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Tesla's NV Gigafactory (100 GWh, largest in NA) needs 35+ GWh Ni</a:t>
            </a:r>
            <a:br/>
            <a:r>
              <a:t>annually - Oregon laterites fill the gap.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532120"/>
            <a:ext cx="10972800" cy="109728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2356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Patriot Tie-In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Our 1.1B+ lbs Ni resources = low-capex feedstock for 500k+ EVs/year.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Global Nickel Supply vs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963E"/>
                </a:solidFill>
                <a:latin typeface="Calibri"/>
              </a:defRPr>
            </a:pPr>
            <a:r>
              <a:t>Surplus Today, Tight Tomorrow - Demand Outpaces Supply by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92024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3474720" cy="32004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C8963E"/>
                </a:solidFill>
                <a:latin typeface="Calibri"/>
              </a:defRPr>
            </a:pPr>
            <a:r>
              <a:t>2025 Surplus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2926080"/>
            <a:ext cx="256032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20040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198kt surplus (production 3.74Mt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vs. demand 3.54Mt)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490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Prices ~$15k/t amid Indonesian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oversupply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2286000"/>
            <a:ext cx="3474720" cy="32004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24688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C8963E"/>
                </a:solidFill>
                <a:latin typeface="Calibri"/>
              </a:defRPr>
            </a:pPr>
            <a:r>
              <a:t>2026 Pivot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926080"/>
            <a:ext cx="256032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20040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Demand +2.4% to 3.62Mt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4747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(EV batteries +10kt to 470kt)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7490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Surplus narrows to 160kt 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02336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tariffs curb imports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286000"/>
            <a:ext cx="3474720" cy="32004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24688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C8963E"/>
                </a:solidFill>
                <a:latin typeface="Calibri"/>
              </a:defRPr>
            </a:pPr>
            <a:r>
              <a:t>Investor Angle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926080"/>
            <a:ext cx="256032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0" y="320040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Laterite assets like ours de-risk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47472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with 95% recovery 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74904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Quick path to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4023360"/>
            <a:ext cx="29260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amid policy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Nickel Mining in America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529 Known Occurrences in the Klamath Mountains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US Laterite Heartland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Southern Oregon/Northern California holds the largest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untapped Ni supply - formed by weathering of ultramafic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rocks over millions of years.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Riddle Legacy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Largest US Ni mine (Nickel Mountain, OR) - produced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50Mt @ 1.5% Ni (1954-1983); validates district.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Why Now?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FAST-41 + Trump EO accelerate development - low-sulfur,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non-toxic laterites = ESG-safe path to production.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645920"/>
            <a:ext cx="5303520" cy="219456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3736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Eagle Mine, Michigan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10312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Underground nickel sulphide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5000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5.16 Mt @ 3.1% Ni, 2.6% 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59689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440 million pounds contained 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43784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In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309067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Closure estimated 2027-2029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4023360"/>
            <a:ext cx="5303520" cy="219456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1148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Tamarack Deposit, Minnesota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48056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Underground, nickel sulphide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727448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17.03 Mt @ 1.28% 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4974336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480 million pounds contained 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5221224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8 separate deposits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468112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Not yet in 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5715000"/>
            <a:ext cx="475488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Facing water permit issues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669280"/>
            <a:ext cx="5303520" cy="7315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76072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PATRIOT: Surface Nickel - Near-surface laterite mining, no deep shafts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Low-Risk, High-Impact Mining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963E"/>
                </a:solidFill>
                <a:latin typeface="Calibri"/>
              </a:defRPr>
            </a:pPr>
            <a:r>
              <a:t>Near-Surface &amp; Simple  |  High Recovery  |  Environmentally Safe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3474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377440"/>
            <a:ext cx="3474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423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Laterite (Patriot)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377440"/>
            <a:ext cx="347472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Sulphide (Eagle/Tamarack)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2608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99923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Depth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92608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299923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B57"/>
                </a:solidFill>
                <a:latin typeface="Calibri"/>
              </a:defRPr>
            </a:pPr>
            <a:r>
              <a:t>20-90 ft (surface)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20" y="292608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99923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1,000-5,000 ft (underground)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54787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Capex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3474720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354787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B57"/>
                </a:solidFill>
                <a:latin typeface="Calibri"/>
              </a:defRPr>
            </a:pPr>
            <a:r>
              <a:t>$50-100M (aggregate-style)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474720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354787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$500M-$1B+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02336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09651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Permitting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402336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409651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B57"/>
                </a:solidFill>
                <a:latin typeface="Calibri"/>
              </a:defRPr>
            </a:pPr>
            <a:r>
              <a:t>1-2 yrs (FAST-41 eligible)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46720" y="402336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409651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5-10 yrs (water issues)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571999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4645151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Tailings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89120" y="4571999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4645151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B57"/>
                </a:solidFill>
                <a:latin typeface="Calibri"/>
              </a:defRPr>
            </a:pPr>
            <a:r>
              <a:t>Low-S, non-toxic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571999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0" y="4645151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Acid-generating, high risk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512064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19379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Recovery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512064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19379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B57"/>
                </a:solidFill>
                <a:latin typeface="Calibri"/>
              </a:defRPr>
            </a:pPr>
            <a:r>
              <a:t>Up to 95%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46720" y="5120640"/>
            <a:ext cx="347472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38160" y="519379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80-90%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1520" y="5669280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74243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FFFFFF"/>
                </a:solidFill>
                <a:latin typeface="Calibri"/>
              </a:defRPr>
            </a:pPr>
            <a:r>
              <a:t>Timeline to Production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389120" y="5669280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80560" y="574243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2E8B57"/>
                </a:solidFill>
                <a:latin typeface="Calibri"/>
              </a:defRPr>
            </a:pPr>
            <a:r>
              <a:t>3-5 yrs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6720" y="5669280"/>
            <a:ext cx="347472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0" y="5742432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7-10+ yrs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Unlocking Oregon's Untapped Nickel Powerhouse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C8963E"/>
                </a:solidFill>
                <a:latin typeface="Calibri"/>
              </a:defRPr>
            </a:pPr>
            <a:r>
              <a:t>New American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Focus on US laterite 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5029200" cy="13716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6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Financial Strength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~$14M CAD mkt cap; $4.2M cash/securities (as of Sep 2025)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Includes CNC/NOB/BEX holdings + Vinland Lithium spin-out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5029200" cy="914400"/>
          </a:xfrm>
          <a:prstGeom prst="rect">
            <a:avLst/>
          </a:prstGeom>
          <a:solidFill>
            <a:srgbClr val="122B44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8B57"/>
                </a:solidFill>
                <a:latin typeface="Calibri"/>
              </a:defRPr>
            </a:pPr>
            <a:r>
              <a:t>2025 Momentum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2.2% Ni surface samples (Eight Dollar); Red Flat drilling approved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45920"/>
            <a:ext cx="5303520" cy="457200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37360"/>
            <a:ext cx="4937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80% Earn-In to Cleopatra &amp; Eight Dollar Mountain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2194560"/>
            <a:ext cx="36576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Cleopatra + Eight Dollar Mountain: 80% earn-in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Combined &gt;48 Mt historic resources (0.7% Ni cutoff)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Shallow exploration (avg. &lt;20 ft) signals major upside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Cleopatra: 39.5 Mt @ 0.93% Ni - exploration confined to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upper 20 ft; laterite extends to 80-90 ft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Eight Dollar Mountain: Recent surface sampling (Jul 2025)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returned up to 2.2% Ni from laterite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Right of First Refusal: Red Flat, Woodcock, Shamrock -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optionality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Premier Laterite District - 100km of Infrastructure Access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182880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Property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1737360"/>
            <a:ext cx="109728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783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737360"/>
            <a:ext cx="109728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783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Acres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737360"/>
            <a:ext cx="109728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78308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Ownership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1737360"/>
            <a:ext cx="5852160" cy="4572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78308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Key Metric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286000"/>
            <a:ext cx="182880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35915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Cleopatra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228600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35915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E8B57"/>
                </a:solidFill>
                <a:latin typeface="Calibri"/>
              </a:defRPr>
            </a:pPr>
            <a:r>
              <a:t>Laterite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28600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235915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2,872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228600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235915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2286000"/>
            <a:ext cx="585216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0" y="235915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39.5Mt @0.93% Ni (Meas+Ind+Inf)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2834640"/>
            <a:ext cx="182880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90779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Eight Dollar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2834640"/>
            <a:ext cx="109728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290779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E8B57"/>
                </a:solidFill>
                <a:latin typeface="Calibri"/>
              </a:defRPr>
            </a:pPr>
            <a:r>
              <a:t>Laterite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2834640"/>
            <a:ext cx="109728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290779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2,376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0560" y="2834640"/>
            <a:ext cx="109728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0" y="290779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2834640"/>
            <a:ext cx="585216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290779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2.2% Ni surface (Jul 2025); 9Mt historic @0.56%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383280"/>
            <a:ext cx="182880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45643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Red Flat (ROFR)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338328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77440" y="345643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E8B57"/>
                </a:solidFill>
                <a:latin typeface="Calibri"/>
              </a:defRPr>
            </a:pPr>
            <a:r>
              <a:t>Laterite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80" y="338328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0" y="345643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1,820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338328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0" y="345643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383280"/>
            <a:ext cx="585216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69280" y="345643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18.8Mt @0.84% Ni; Drilling Q4 2025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931919"/>
            <a:ext cx="182880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005071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Shamrock (ROFR)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0" y="3931919"/>
            <a:ext cx="109728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77440" y="4005071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E8B57"/>
                </a:solidFill>
                <a:latin typeface="Calibri"/>
              </a:defRPr>
            </a:pPr>
            <a:r>
              <a:t>Sulphide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383280" y="3931919"/>
            <a:ext cx="109728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0" y="4005071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758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480560" y="3931919"/>
            <a:ext cx="109728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4005071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3931919"/>
            <a:ext cx="5852160" cy="502920"/>
          </a:xfrm>
          <a:prstGeom prst="rect">
            <a:avLst/>
          </a:prstGeom>
          <a:solidFill>
            <a:srgbClr val="15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69280" y="4005071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1.3% Ni/1.1% Cu bulk sample; 2025 sampling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4480560"/>
            <a:ext cx="182880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8640" y="4553712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Woodcock (ROFR)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0" y="448056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377440" y="455371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2E8B57"/>
                </a:solidFill>
                <a:latin typeface="Calibri"/>
              </a:defRPr>
            </a:pPr>
            <a:r>
              <a:t>Laterite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83280" y="448056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0" y="455371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4,050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4480560"/>
            <a:ext cx="109728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0" y="4553712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4480560"/>
            <a:ext cx="5852160" cy="50292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69280" y="4553712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New stake (Aug 2025); USGS high-grade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5120640"/>
            <a:ext cx="5486400" cy="109728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21208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Location Edge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557784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SW Oregon; Highway access; near ports (Gold Beach)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17920" y="5120640"/>
            <a:ext cx="5486400" cy="1097280"/>
          </a:xfrm>
          <a:prstGeom prst="rect">
            <a:avLst/>
          </a:prstGeom>
          <a:solidFill>
            <a:srgbClr val="122B44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0" y="521208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8B57"/>
                </a:solidFill>
                <a:latin typeface="Calibri"/>
              </a:defRPr>
            </a:pPr>
            <a:r>
              <a:t>Upside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0" y="5577840"/>
            <a:ext cx="5120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Shallow exploration (avg. 12ft) - deeper drilling to 50ft could double resources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CLEOPATRA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Untapped Laterite in SW Oregon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2860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2011680" cy="9144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C8963E"/>
                </a:solidFill>
                <a:latin typeface="Calibri"/>
              </a:defRPr>
            </a:pPr>
            <a:r>
              <a:t>2,872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31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acres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828800"/>
            <a:ext cx="2011680" cy="9144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87451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C8963E"/>
                </a:solidFill>
                <a:latin typeface="Calibri"/>
              </a:defRPr>
            </a:pPr>
            <a:r>
              <a:t>139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331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lode mining claims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1828800"/>
            <a:ext cx="2011680" cy="9144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1874519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C8963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23317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owned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Strategic Position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SW Oregon (Curry County), bordering California - 15km west of Hwy 199. Direct access via Road 450. Near Riddle Mine (largest historic US Ni producer, 39Mt @1.0-1.5% Ni, 1954-1983).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Administration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34340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Federal BLM land. Regulated by Oregon DOGAMI (exploration permits) and Mineral Land Regulation Board.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Higher-Grade Zone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5486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30% of claims avg. 1.12% Ni - equivalent to 8-10Mt per vertical meter. Largest resource in the portfolio.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1828800"/>
            <a:ext cx="4846320" cy="475488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0" y="1920240"/>
            <a:ext cx="4480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3E"/>
                </a:solidFill>
                <a:latin typeface="Calibri"/>
              </a:defRPr>
            </a:pPr>
            <a:r>
              <a:t>743M lbs Ni: Scalable, Shallow Resource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40880" y="237744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256032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Historical Resource (0.7% Ni Cut-Off)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Total 39.5Mt @ 0.93% Ni (743M lbs contained)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Measured:    5.255Mt @ 0.98% Ni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Indicated:   14.548Mt @ 0.92% Ni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Inferred:    19.671Mt @ 0.92% Ni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Higher-Grade Core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949 acres avg. 1.12% Ni (&gt;0.7% across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nearly all claims) - shallow sampling only;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laterite extends to 80-90ft untapped.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Investor Upside: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Minimal work since 2009. Sonic drilling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to 50ft could +50-100% tonnage.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CLEOPATRA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Road-Ready Access: De-Risked for Rapid Advancement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10972800" cy="100584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402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Gravel road (Road 450) bisects property - truck/trailer to edge; boulder-covered interior requires trail upgrades (DOGAMI permit: ~6 months). Property ~80% burned (2010s) - easier clearing.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971800"/>
            <a:ext cx="10972800" cy="100584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Infrastructure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Near Hwy 199 (15km); power/water proximity; full road access supports low-capex ops (aggregate-style). 2024 Forest Service visit confirms logistics.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114800"/>
            <a:ext cx="10972800" cy="100584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206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Recent Activity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2024 hand-augering confirmed grades; bulk sample planned for metallurgy.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257800"/>
            <a:ext cx="10972800" cy="100584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34924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2025-2026 Catalysts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669280"/>
            <a:ext cx="105156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Up to 70 sonic holes to 15m (50ft) in higher-grade zone (Q2 2026, post-permitting); resource verification; PEA scoping. FAST-41 eligible under Trump EO.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5943600"/>
            <a:ext cx="7772400" cy="64008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68880" y="5989320"/>
            <a:ext cx="7406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 believe Cleopatra to be one of the largest undeveloped nickel resources in the continental USA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EIGHT DOLLAR MOUNTAIN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High-Grade Wildcard: Surface Hits in Prime District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Strategic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48840"/>
            <a:ext cx="5943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SW Oregon (Josephine County), west of Selma; elevation 2,600-4,000ft. Bounded east by Hwy 199, west by Illinois River. In nickel-rich ultramafic belt, adjacent to Woodcock.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3464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Size &amp;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54680"/>
            <a:ext cx="5943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2,376 acres (962 ha) | 115 lode mining claims | 100% Owned (staked 2023)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Geology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5943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Olivine-rich peridotite weathered to clay-rich laterite (upper 10-30ft); Ni (0.2-2.2%) + Co/Cr/Mo byproducts.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59436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66360"/>
            <a:ext cx="5943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1942 Freeport pits/shafts; 1950s bulk sampling; DOGAMI 2018 mapped wide Ni zones. Staked 2023.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1828800"/>
            <a:ext cx="4572000" cy="32004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4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Recent Validation (Jul 2025)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37744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0" y="2560320"/>
            <a:ext cx="4206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56 surface samples avg. 0.67% Ni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(max 2.21%) - confirms historic highs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Historic Resource (Unclassified):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~9.0 Mt @ 0.56% (~110M lbs Ni)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Investor Upside: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Low-cost entry; 2026 sampling to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define +20Mt resource at &gt;1% Ni potential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10972800" cy="1097280"/>
          </a:xfrm>
          <a:prstGeom prst="rect">
            <a:avLst/>
          </a:prstGeom>
          <a:solidFill>
            <a:srgbClr val="122B44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8B57"/>
                </a:solidFill>
                <a:latin typeface="Calibri"/>
              </a:defRPr>
            </a:pPr>
            <a:r>
              <a:t>2025-2026 Catalysts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Q1 2026 surface sampling expansion  |  Resource classification  |  JV potential  |  FAST-41 eligible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Hwy 199 east boundary; forestry roads to summit - direct 4WD to core claims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RED FLAT (ROFR)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317M lbs Ni: Road-Accessible Laterite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2468880" cy="82296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87451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8963E"/>
                </a:solidFill>
                <a:latin typeface="Calibri"/>
              </a:defRPr>
            </a:pPr>
            <a:r>
              <a:t>2,015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86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acres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0" y="1828800"/>
            <a:ext cx="2468880" cy="82296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87451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8963E"/>
                </a:solidFill>
                <a:latin typeface="Calibri"/>
              </a:defRPr>
            </a:pPr>
            <a:r>
              <a:t>84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286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lode mining claims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828800"/>
            <a:ext cx="2468880" cy="82296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187451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8963E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86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owned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828800"/>
            <a:ext cx="2468880" cy="82296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874519"/>
            <a:ext cx="2286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>
                <a:solidFill>
                  <a:srgbClr val="C8963E"/>
                </a:solidFill>
                <a:latin typeface="Calibri"/>
              </a:defRPr>
            </a:pPr>
            <a:r>
              <a:t>18.8Mt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28600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CCCCCC"/>
                </a:solidFill>
                <a:latin typeface="Calibri"/>
              </a:defRPr>
            </a:pPr>
            <a:r>
              <a:t>@ 0.84% Ni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2926080"/>
            <a:ext cx="5486400" cy="320040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01752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Historical Resource (0.7% Ni Cut-Off, 2009)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3832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18.8Mt @ 0.84% Ni --&gt; 317M lbs contained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Measured:   4.0Mt @ 0.99% Ni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Indicated:   6.4Mt @ 0.81% Ni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Inferred:    8.3Mt @ 0.80% Ni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Grade Insight: Ni higher in rock vs. soil; 1950s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trenches confirm &gt;1% surface highs - laterite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to 60ft+ untapped.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Investor Upside: Minimal work since 2009; 2025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drilling (up to 50 sonic holes to 15m) targets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+50% resource growth.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926080"/>
            <a:ext cx="5120640" cy="3200400"/>
          </a:xfrm>
          <a:prstGeom prst="rect">
            <a:avLst/>
          </a:prstGeom>
          <a:solidFill>
            <a:srgbClr val="122B44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01752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2E8B57"/>
                </a:solidFill>
                <a:latin typeface="Calibri"/>
              </a:defRPr>
            </a:pPr>
            <a:r>
              <a:t>Access &amp; Catalysts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383280"/>
            <a:ext cx="4754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Access: Direct from Hwy 101 via Hunter Creek Rd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- 4WD gravel road to core claims; no major upgrades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Infrastructure: Proximity to Gold Beach port (15km)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for logistics; power/water access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Recent: 2024 surface sampling validates historic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grades; SUD approval Aug 2025 (44 sonic holes)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2025-2026: Q4 2025 drilling (600ft x 1,200ft grid,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1m intervals to 15m) - bulk samples for metallurgy;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resource update H1 2026. FAST-41 eligible.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SHAMROCK (ROFR)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High-Grade Sulphide Bonus: Ni-Cu-PGE in Proven District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758 acres  |  40 unpatented lode claims  |  100% Owned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Strategic 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0604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SW Oregon (Jackson County), 20 miles NW of Medford; federal BLM land in nickel-copper belt.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Geology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5760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Ultramafic peridotite/serpentinite intruded by norite/diorite; sulphides (pyrrhotite, pentlandite, chalcopyrite, pyrite) in lenses 3-25ft thick.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8912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0916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Early 1900s prospecting; 1949-50 USBM underground dev + 11 diamond drillholes (3,419ft total). 1952-53 USBM bulk removal.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40680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C8963E"/>
                </a:solidFill>
                <a:latin typeface="Calibri"/>
              </a:defRPr>
            </a:pPr>
            <a:r>
              <a:t>Assays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60720"/>
            <a:ext cx="5486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200-lb composite: 1.3% Ni, 1.1% Cu, 0.07% Co, 0.03 oz/t Pt - 92% Ni/89% Cu recovery via flotation. Drillhole S68491: 1.19% Ni/1.97% Cu/3.4g/t TPM.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28800"/>
            <a:ext cx="5120640" cy="41148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9202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Why a Bonus Asset?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22860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Sulphide complement to laterites; open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high-grade lenses (Ni-Cu-Co-Pt) de-risked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by 1940s-50s drilling.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Byproduct Potential: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Mn/Fe pods (23-32% Mn, 2-3.7% Fe)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Two lenses traced 1,500ft N-S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Access: Paved road direct to property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Near Medford for logistics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2025-2026 Catalysts: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Q1 2026 outcrop sampling + resource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classification. FAST-41 eligible.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No modern work - Q1 2026 sampling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targets resource definition + PGE/Co value.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Combined Resource: 1.1B+ lbs Contained Nickel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963E"/>
                </a:solidFill>
                <a:latin typeface="Calibri"/>
              </a:defRPr>
            </a:pPr>
            <a:r>
              <a:t>All Properties Combined - Low-Capex, ESG-Safe, FAST-41 Eligible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286000"/>
            <a:ext cx="2560320" cy="18288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688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C8963E"/>
                </a:solidFill>
                <a:latin typeface="Calibri"/>
              </a:defRPr>
            </a:pPr>
            <a:r>
              <a:t>1.1B+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017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lbs Contained 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383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Combined resources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286000"/>
            <a:ext cx="2560320" cy="18288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24688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C8963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017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83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SW Oregon district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286000"/>
            <a:ext cx="2560320" cy="18288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C8963E"/>
                </a:solidFill>
                <a:latin typeface="Calibri"/>
              </a:defRPr>
            </a:pPr>
            <a:r>
              <a:t>11,876+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17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Total Acres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383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Infrastructure-accessible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286000"/>
            <a:ext cx="2560320" cy="18288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24688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000" b="1">
                <a:solidFill>
                  <a:srgbClr val="C8963E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01752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Recovery 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383280"/>
            <a:ext cx="23774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Proven laterite technology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572000"/>
            <a:ext cx="32004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6177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3E"/>
                </a:solidFill>
                <a:latin typeface="Calibri"/>
              </a:defRPr>
            </a:pPr>
            <a:r>
              <a:t>Cleopatra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4572000"/>
            <a:ext cx="41148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46177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39.5Mt @ 0.93% Ni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4572000"/>
            <a:ext cx="329184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46177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733M lbs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32004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0749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3E"/>
                </a:solidFill>
                <a:latin typeface="Calibri"/>
              </a:defRPr>
            </a:pPr>
            <a:r>
              <a:t>Red Flat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5029200"/>
            <a:ext cx="41148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50749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18.8Mt @ 0.84% Ni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12480" y="5029200"/>
            <a:ext cx="329184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03920" y="50749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317M lbs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486400"/>
            <a:ext cx="32004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5321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3E"/>
                </a:solidFill>
                <a:latin typeface="Calibri"/>
              </a:defRPr>
            </a:pPr>
            <a:r>
              <a:t>Eight Dollar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0" y="5486400"/>
            <a:ext cx="41148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55321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~9.0Mt @ 0.56% Ni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5486400"/>
            <a:ext cx="329184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20" y="55321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~110M lbs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943600"/>
            <a:ext cx="32004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9893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3E"/>
                </a:solidFill>
                <a:latin typeface="Calibri"/>
              </a:defRPr>
            </a:pPr>
            <a:r>
              <a:t>Shamrock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0" y="5943600"/>
            <a:ext cx="41148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59893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Sulphide - high grade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12480" y="5943600"/>
            <a:ext cx="329184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03920" y="59893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" y="6400800"/>
            <a:ext cx="32004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446520"/>
            <a:ext cx="1371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C8963E"/>
                </a:solidFill>
                <a:latin typeface="Calibri"/>
              </a:defRPr>
            </a:pPr>
            <a:r>
              <a:t>Woodcock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0" y="6400800"/>
            <a:ext cx="411480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06240" y="644652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USGS high-grade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12480" y="6400800"/>
            <a:ext cx="3291840" cy="411480"/>
          </a:xfrm>
          <a:prstGeom prst="rect">
            <a:avLst/>
          </a:prstGeom>
          <a:solidFill>
            <a:srgbClr val="122B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03920" y="644652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TBD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508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C8963E"/>
                </a:solidFill>
                <a:latin typeface="Calibri"/>
              </a:defRPr>
            </a:pPr>
            <a:r>
              <a:t>TECHNOLOGY PARTNER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CVMR® Corporation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200400"/>
            <a:ext cx="36576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Vapour Metallurgy  |  40+ Years Global Experience  |  Operations in 20 Countries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NATO &amp; US Government Certified Supplier (NCAGE # L08P1)</a:t>
            </a:r>
          </a:p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US Department of Defense  |  US Department of Energy  |  Canadian Department of Defense</a:t>
            </a:r>
          </a:p>
          <a:p>
            <a:pPr algn="l">
              <a:spcAft>
                <a:spcPts val="42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NASA  |  US Bureau of Engraving  |  Argonne National Laboratory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8963E"/>
                </a:solidFill>
                <a:latin typeface="Calibri"/>
              </a:defRPr>
            </a:pPr>
            <a:r>
              <a:t>Integrated processing solution for Patriot Nickel's laterite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0D9"/>
                </a:solidFill>
                <a:latin typeface="Calibri"/>
              </a:defRPr>
            </a:pPr>
            <a:r>
              <a:t>CVMR® CORPORATION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Global Experience in Metal Refining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Privately held with operations in 20 countries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Refines and manufactures high-value metals directly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from ore, scrap, mining concentrates and mattes: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- Nickel, Iron, Cobalt, PGMs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- Tantalum, Niobium, Lithium, Molybdenum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  - Vanadium and all 17 Rare Earth Elements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40+ years developing unique processes for refining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Transition Metals with high purity and unique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materials performance.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Chemical vapour metal refining based on a proven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method discovered 135 years ago; refines 25% of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global nickel and 15% of iron supply today.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60+ seminal patents on advanced, proprietary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processes and technologies.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5120640" cy="4572000"/>
          </a:xfrm>
          <a:prstGeom prst="rect">
            <a:avLst/>
          </a:prstGeom>
          <a:solidFill>
            <a:srgbClr val="122B44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9202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Key Clients &amp;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28600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Government &amp; Defense: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NATO, US DOD, US DOE, Canadian DOD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Science &amp; Research: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NASA, Argonne National Laboratory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US Bureau of Engraving, US Mint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Industry: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General Motors, Virgin Galactic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Pfizer (medical tools)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Canadian Navy (sonar equipment)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Landmark Project: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Sudbury Neutrino Observatory (SNO)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1,200 high-purity Ni tubes (99.9999%)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Director won Nobel Prize in Physics 2015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0D9"/>
                </a:solidFill>
                <a:latin typeface="Calibri"/>
              </a:defRPr>
            </a:pPr>
            <a:r>
              <a:t>CVMR® CORPORATION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Proprietary Processes &amp; High-Value Products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5303520" cy="4572000"/>
          </a:xfrm>
          <a:prstGeom prst="rect">
            <a:avLst/>
          </a:prstGeom>
          <a:solidFill>
            <a:srgbClr val="122B44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Vapour Metallurgy Processes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Uses low-grade ores to produce high-value products: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Metal powders &amp; nano-powders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Complex net shapes &amp; super alloys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Mixed Hydroxide Precipitate (MHP)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High-purity graphite sponge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Applications: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3D printing &amp; additive manufacturing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EV battery manufacturing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Aerospace &amp; defense parts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Medical instruments (Pfizer)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Computer &amp; electronic components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Zero pollution of air, water or soil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Modular plant system - 5M+ tons/year capacity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Flexible output - switch products by changing parameters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28800"/>
            <a:ext cx="5303520" cy="45720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High-Value Carbonyl Products (NVD)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Nickel Vapour Deposition (NVD) Products: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Nickel coated carbon fibre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Medical tools (Pfizer)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Sonar equipment (Canadian Navy)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NASA camera dome mirrors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US dollar money plate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Silicon wafer deposition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Iron Carbonyl Powder Products: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3D printing feedstock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Ferro magnetic fluid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Iron supplement (pharmaceutical)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Injection molding compounds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Global Plants: Toronto (pilot), Jilin China, Meta Nickel (Turkiye)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CVMR® + Patriot Nickel: Integrated Value 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2743200" cy="4114800"/>
          </a:xfrm>
          <a:prstGeom prst="rect">
            <a:avLst/>
          </a:prstGeom>
          <a:solidFill>
            <a:srgbClr val="122B44"/>
          </a:solidFill>
          <a:ln w="254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C8963E"/>
                </a:solidFill>
                <a:latin typeface="Calibri"/>
              </a:defRPr>
            </a:pPr>
            <a:r>
              <a:t>1.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Patriot Nickel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34640"/>
            <a:ext cx="219456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23774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Aggregate-style surface mining</a:t>
            </a:r>
            <a:br/>
            <a:r>
              <a:t>Low-capex laterite extraction</a:t>
            </a:r>
            <a:br/>
            <a:r>
              <a:t>$50-100M vs $500M+ sulphide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6576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8963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011680"/>
            <a:ext cx="2743200" cy="4114800"/>
          </a:xfrm>
          <a:prstGeom prst="rect">
            <a:avLst/>
          </a:prstGeom>
          <a:solidFill>
            <a:srgbClr val="122B44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21031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4A90D9"/>
                </a:solidFill>
                <a:latin typeface="Calibri"/>
              </a:defRPr>
            </a:pPr>
            <a:r>
              <a:t>2. 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468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CVMR®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834640"/>
            <a:ext cx="219456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3017520"/>
            <a:ext cx="23774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Vapour metallurgy refining</a:t>
            </a:r>
            <a:br/>
            <a:r>
              <a:t>Zero-pollution technology</a:t>
            </a:r>
            <a:br/>
            <a:r>
              <a:t>Modular 5M+ tons/year plants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6576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8963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011680"/>
            <a:ext cx="2743200" cy="4114800"/>
          </a:xfrm>
          <a:prstGeom prst="rect">
            <a:avLst/>
          </a:prstGeom>
          <a:solidFill>
            <a:srgbClr val="122B44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2E8B57"/>
                </a:solidFill>
                <a:latin typeface="Calibri"/>
              </a:defRPr>
            </a:pPr>
            <a:r>
              <a:t>3.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Joint Value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2834640"/>
            <a:ext cx="219456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017520"/>
            <a:ext cx="23774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High-purity nickel powders</a:t>
            </a:r>
            <a:br/>
            <a:r>
              <a:t>EV battery materials (MHP)</a:t>
            </a:r>
            <a:br/>
            <a:r>
              <a:t>Aerospace &amp; defense alloys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657600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C8963E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011680"/>
            <a:ext cx="2743200" cy="4114800"/>
          </a:xfrm>
          <a:prstGeom prst="rect">
            <a:avLst/>
          </a:prstGeom>
          <a:solidFill>
            <a:srgbClr val="122B44"/>
          </a:solidFill>
          <a:ln w="25400">
            <a:solidFill>
              <a:srgbClr val="CC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1031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CC6600"/>
                </a:solidFill>
                <a:latin typeface="Calibri"/>
              </a:defRPr>
            </a:pPr>
            <a:r>
              <a:t>4. MARKETS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46888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End Users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2834640"/>
            <a:ext cx="219456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18320" y="3017520"/>
            <a:ext cx="2377440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Tesla, GM, defence contractors</a:t>
            </a:r>
            <a:br/>
            <a:r>
              <a:t>NASA, medical, 3D printing</a:t>
            </a:r>
            <a:br/>
            <a:r>
              <a:t>EV battery manufacturers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4A90D9"/>
                </a:solidFill>
                <a:latin typeface="Calibri"/>
              </a:defRPr>
            </a:pPr>
            <a:r>
              <a:t>CVMR® CORPORATION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Modular Plant Technology &amp; Global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55448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828800"/>
            <a:ext cx="5486400" cy="2286000"/>
          </a:xfrm>
          <a:prstGeom prst="rect">
            <a:avLst/>
          </a:prstGeom>
          <a:solidFill>
            <a:srgbClr val="122B44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5120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Modular Plant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Key Components: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Carbonylation vessels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Thermal oxidizer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Reformation unit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Clean metal collection &amp; storage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Environmental controls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Flexible: change output by adjusting parameters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Process diverse minerals from various sources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1828800"/>
            <a:ext cx="5120640" cy="22860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1920240"/>
            <a:ext cx="47548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Global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286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Toronto, Canada - Pilot Plant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Feasibility studies for major clients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Saves capital cost of building pilot plants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Jilin, China - Ni &amp; Fe Carbonyl Plant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World's largest powder decomposer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Meta Nickel, Turkiye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  MHP production for battery industry</a:t>
            </a: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30"/>
              </a:spcAft>
              <a:defRPr sz="1100">
                <a:solidFill>
                  <a:srgbClr val="CCCCCC"/>
                </a:solidFill>
                <a:latin typeface="Calibri"/>
              </a:defRPr>
            </a:pPr>
            <a:r>
              <a:t>Interoceanmetal (IOM) JV - Deep sea mining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10972800" cy="2011680"/>
          </a:xfrm>
          <a:prstGeom prst="rect">
            <a:avLst/>
          </a:prstGeom>
          <a:solidFill>
            <a:srgbClr val="122B44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515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E8B57"/>
                </a:solidFill>
                <a:latin typeface="Calibri"/>
              </a:defRPr>
            </a:pPr>
            <a:r>
              <a:t>Battery &amp; Advanced Materials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High-Purity Graphite Sponge - Critical to battery performance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"Canadian firm turns CO2, methane and coal to graphite" - breakthrough technology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MHP (Mixed Hydroxide Precipitate) - directly for EV battery industry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US Dollar Money Plate - designed, engineered, and built the equipment for new US money plate</a:t>
            </a:r>
          </a:p>
          <a:p>
            <a:pPr algn="l">
              <a:spcAft>
                <a:spcPts val="359"/>
              </a:spcAft>
              <a:defRPr sz="1200">
                <a:solidFill>
                  <a:srgbClr val="CCCCCC"/>
                </a:solidFill>
                <a:latin typeface="Calibri"/>
              </a:defRPr>
            </a:pPr>
            <a:r>
              <a:t>Interoceanmetal JV - exclusive deep ocean mining rights (150,000 km2 Clarion Clipperton field)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Investment 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737360"/>
            <a:ext cx="10972800" cy="914400"/>
          </a:xfrm>
          <a:prstGeom prst="rect">
            <a:avLst/>
          </a:prstGeom>
          <a:solidFill>
            <a:srgbClr val="122B44"/>
          </a:solidFill>
          <a:ln w="254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87452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8288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3E"/>
                </a:solidFill>
                <a:latin typeface="Calibri"/>
              </a:defRPr>
            </a:pPr>
            <a:r>
              <a:t>Critical Supply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148840"/>
            <a:ext cx="9784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Only 0.2% of global nickel from the US. Eagle Mine closes 2029.</a:t>
            </a:r>
            <a:br/>
            <a:r>
              <a:t>No major US laterites in production - Patriot fills the gap.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743200"/>
            <a:ext cx="10972800" cy="914400"/>
          </a:xfrm>
          <a:prstGeom prst="rect">
            <a:avLst/>
          </a:prstGeom>
          <a:solidFill>
            <a:srgbClr val="122B44"/>
          </a:solidFill>
          <a:ln w="254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880360"/>
            <a:ext cx="502920" cy="5029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803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8346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2E8B57"/>
                </a:solidFill>
                <a:latin typeface="Calibri"/>
              </a:defRPr>
            </a:pPr>
            <a:r>
              <a:t>Policy Tailwinds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154680"/>
            <a:ext cx="9784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Trump EO 14241 + FAST-41 fast-tracks permitting (1-2 yrs vs 5-10).</a:t>
            </a:r>
            <a:br/>
            <a:r>
              <a:t>10-25% import tariffs on Indonesian nickel. IRA incentives for domestic supply.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749040"/>
            <a:ext cx="10972800" cy="914400"/>
          </a:xfrm>
          <a:prstGeom prst="rect">
            <a:avLst/>
          </a:prstGeom>
          <a:solidFill>
            <a:srgbClr val="122B44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3886200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862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840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Calibri"/>
              </a:defRPr>
            </a:pPr>
            <a:r>
              <a:t>Proven Resources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4160520"/>
            <a:ext cx="9784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1.1B+ lbs contained Ni across 5 properties. 39.5Mt @ 0.93% Ni at</a:t>
            </a:r>
            <a:br/>
            <a:r>
              <a:t>Cleopatra alone. Up to 95% recovery rates with laterite processing.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54880"/>
            <a:ext cx="10972800" cy="914400"/>
          </a:xfrm>
          <a:prstGeom prst="rect">
            <a:avLst/>
          </a:prstGeom>
          <a:solidFill>
            <a:srgbClr val="122B44"/>
          </a:solidFill>
          <a:ln w="254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892040"/>
            <a:ext cx="502920" cy="50292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89204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48463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C8963E"/>
                </a:solidFill>
                <a:latin typeface="Calibri"/>
              </a:defRPr>
            </a:pPr>
            <a:r>
              <a:t>Low-Capex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5166360"/>
            <a:ext cx="9784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Surface mining ($50-100M vs $500M+ underground). Aggregate-style</a:t>
            </a:r>
            <a:br/>
            <a:r>
              <a:t>ops. Road-accessible properties near highways and ports.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760720"/>
            <a:ext cx="10972800" cy="914400"/>
          </a:xfrm>
          <a:prstGeom prst="rect">
            <a:avLst/>
          </a:prstGeom>
          <a:solidFill>
            <a:srgbClr val="122B44"/>
          </a:solidFill>
          <a:ln w="254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5897880"/>
            <a:ext cx="502920" cy="5029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9788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45920" y="5852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4A90D9"/>
                </a:solidFill>
                <a:latin typeface="Calibri"/>
              </a:defRPr>
            </a:pPr>
            <a:r>
              <a:t>Technology Edge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45920" y="6172200"/>
            <a:ext cx="97840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CVMR® partnership: 40+ years refining expertise. Zero-pollution</a:t>
            </a:r>
            <a:br/>
            <a:r>
              <a:t>vapour metallurgy. NATO/DOD/NASA-certified. High-value product outputs.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8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C8963E"/>
                </a:solidFill>
                <a:latin typeface="Calibri"/>
              </a:defRPr>
            </a:pPr>
            <a:r>
              <a:t>About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99999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Key Catalysts &amp; Timeline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27432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743200" cy="54864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Q4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2743200" cy="347472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5176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Red Flat: 44 sonic holes drilling program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Red Flat: SUD approval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5760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Surface sampling validation across properties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828800"/>
            <a:ext cx="2743200" cy="54864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187451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Q1 2026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83280" y="2468880"/>
            <a:ext cx="2743200" cy="347472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65176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Eight Dollar Mountain: Surface sampling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1546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Shamrock: Outcrop sampling + workings relocation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65760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Resource classification updates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828800"/>
            <a:ext cx="2743200" cy="54864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87451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Q2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468880"/>
            <a:ext cx="2743200" cy="347472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65176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Cleopatra: Up to 70 sonic holes to 50ft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1546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Cleopatra: Resource verification + PEA scoping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65760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Eight Dollar: JV potential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828800"/>
            <a:ext cx="2743200" cy="54864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874519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1A1A2E"/>
                </a:solidFill>
                <a:latin typeface="Calibri"/>
              </a:defRPr>
            </a:pPr>
            <a:r>
              <a:t>H2 2026+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2468880"/>
            <a:ext cx="2743200" cy="3474720"/>
          </a:xfrm>
          <a:prstGeom prst="rect">
            <a:avLst/>
          </a:prstGeom>
          <a:solidFill>
            <a:srgbClr val="122B44"/>
          </a:solidFill>
          <a:ln w="12700">
            <a:solidFill>
              <a:srgbClr val="20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265176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Red Flat: Resource update publication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15468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Cleopatra: Expanded resource estimate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65760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CVMR processing pathway integration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160520"/>
            <a:ext cx="237744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•  Production pathway development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All properties FAST-41 eligible under Trump EO 14241 - accelerated permitting (1-2 years vs 5-10 typical)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91695" cy="508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PATRIOT NICKEL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C8963E"/>
                </a:solidFill>
                <a:latin typeface="Calibri"/>
              </a:defRPr>
            </a:pPr>
            <a:r>
              <a:t>Forging America's Nickel Independence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017520"/>
            <a:ext cx="3657600" cy="38100"/>
          </a:xfrm>
          <a:prstGeom prst="rect">
            <a:avLst/>
          </a:prstGeom>
          <a:solidFill>
            <a:srgbClr val="C8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1.1B+ lbs Contained Nickel  |  5 Oregon Properties  |  FAST-41 Eligible</a:t>
            </a:r>
            <a:br/>
            <a:r>
              <a:t>CVMR® Technology Partnership  |  Low-Capex Surface Mining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72000"/>
            <a:ext cx="4572000" cy="1371600"/>
          </a:xfrm>
          <a:prstGeom prst="rect">
            <a:avLst/>
          </a:prstGeom>
          <a:solidFill>
            <a:srgbClr val="122B44"/>
          </a:solidFill>
          <a:ln w="12700">
            <a:solidFill>
              <a:srgbClr val="C896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4206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C8963E"/>
                </a:solidFill>
                <a:latin typeface="Calibri"/>
              </a:defRPr>
            </a:pPr>
            <a:r>
              <a:t>Contact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info@patriotnickel.com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Technology Partner: CVMR® Corporation</a:t>
            </a:r>
          </a:p>
          <a:p>
            <a:pPr algn="l">
              <a:spcAft>
                <a:spcPts val="390"/>
              </a:spcAft>
              <a:defRPr sz="1300">
                <a:solidFill>
                  <a:srgbClr val="CCCCCC"/>
                </a:solidFill>
                <a:latin typeface="Calibri"/>
              </a:defRPr>
            </a:pPr>
            <a:r>
              <a:t>www.cvmr.ca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999999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